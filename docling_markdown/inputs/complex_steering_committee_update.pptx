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1210</c:v>
                </c:pt>
                <c:pt idx="1">
                  <c:v>1288</c:v>
                </c:pt>
                <c:pt idx="2">
                  <c:v>1345</c:v>
                </c:pt>
                <c:pt idx="3">
                  <c:v>1382</c:v>
                </c:pt>
                <c:pt idx="4">
                  <c:v>1410</c:v>
                </c:pt>
                <c:pt idx="5">
                  <c:v>1478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Backlog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188</c:v>
                </c:pt>
                <c:pt idx="1">
                  <c:v>176</c:v>
                </c:pt>
                <c:pt idx="2">
                  <c:v>169</c:v>
                </c:pt>
                <c:pt idx="3">
                  <c:v>160</c:v>
                </c:pt>
                <c:pt idx="4">
                  <c:v>154</c:v>
                </c:pt>
                <c:pt idx="5">
                  <c:v>143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Volume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alytics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02920"/>
            <a:ext cx="493776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8"/>
                </a:solidFill>
              </a:defRPr>
            </a:pPr>
            <a:r>
              <a:t>Executive Steering Committee Update</a:t>
            </a:r>
          </a:p>
          <a:p>
            <a:pPr>
              <a:defRPr sz="1200">
                <a:solidFill>
                  <a:srgbClr val="5B6875"/>
                </a:solidFill>
              </a:defRPr>
            </a:pPr>
            <a:r>
              <a:t>Sample PPTX crafted to stress Markdown extraction from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480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303F"/>
                </a:solidFill>
              </a:defRPr>
            </a:pPr>
            <a:r>
              <a:t>• Operating rhythm redesigned around weekly narrative packs</a:t>
            </a:r>
          </a:p>
          <a:p>
            <a:pPr>
              <a:defRPr sz="1400">
                <a:solidFill>
                  <a:srgbClr val="22303F"/>
                </a:solidFill>
              </a:defRPr>
            </a:pPr>
            <a:r>
              <a:t>• Supplier risk watchlist launched in pilot markets</a:t>
            </a:r>
          </a:p>
          <a:p>
            <a:pPr>
              <a:defRPr sz="1400">
                <a:solidFill>
                  <a:srgbClr val="22303F"/>
                </a:solidFill>
              </a:defRPr>
            </a:pPr>
            <a:r>
              <a:t>• Source material includes charts, images, tables and callouts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807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875"/>
                </a:solidFill>
              </a:defRPr>
            </a:pPr>
            <a:r>
              <a:t>Confidential | Strategy demo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8"/>
                </a:solidFill>
              </a:defRPr>
            </a:pPr>
            <a:r>
              <a:t>Performance snapshot</a:t>
            </a:r>
          </a:p>
          <a:p>
            <a:pPr>
              <a:defRPr sz="1200">
                <a:solidFill>
                  <a:srgbClr val="5B6875"/>
                </a:solidFill>
              </a:defRPr>
            </a:pPr>
            <a:r>
              <a:t>The slide mixes native charts, KPI cards and explanatory callouts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92024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73B68"/>
                </a:solidFill>
              </a:defRPr>
            </a:pPr>
            <a:r>
              <a:t>On-time shipment</a:t>
            </a:r>
          </a:p>
          <a:p>
            <a:pPr>
              <a:defRPr sz="2400" b="1">
                <a:solidFill>
                  <a:srgbClr val="2E86AB"/>
                </a:solidFill>
              </a:defRPr>
            </a:pPr>
            <a:r>
              <a:t>93%</a:t>
            </a:r>
          </a:p>
          <a:p>
            <a:pPr>
              <a:defRPr sz="1000">
                <a:solidFill>
                  <a:srgbClr val="5B6875"/>
                </a:solidFill>
              </a:defRPr>
            </a:pPr>
            <a:r>
              <a:t>Target 96%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234440"/>
            <a:ext cx="192024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73B68"/>
                </a:solidFill>
              </a:defRPr>
            </a:pPr>
            <a:r>
              <a:t>Forecast accuracy</a:t>
            </a:r>
          </a:p>
          <a:p>
            <a:pPr>
              <a:defRPr sz="2400" b="1">
                <a:solidFill>
                  <a:srgbClr val="2E86AB"/>
                </a:solidFill>
              </a:defRPr>
            </a:pPr>
            <a:r>
              <a:t>88%</a:t>
            </a:r>
          </a:p>
          <a:p>
            <a:pPr>
              <a:defRPr sz="1000">
                <a:solidFill>
                  <a:srgbClr val="5B6875"/>
                </a:solidFill>
              </a:defRPr>
            </a:pPr>
            <a:r>
              <a:t>Improved +4pp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234440"/>
            <a:ext cx="192024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73B68"/>
                </a:solidFill>
              </a:defRPr>
            </a:pPr>
            <a:r>
              <a:t>Supplier coverage</a:t>
            </a:r>
          </a:p>
          <a:p>
            <a:pPr>
              <a:defRPr sz="2400" b="1">
                <a:solidFill>
                  <a:srgbClr val="2E86AB"/>
                </a:solidFill>
              </a:defRPr>
            </a:pPr>
            <a:r>
              <a:t>81%</a:t>
            </a:r>
          </a:p>
          <a:p>
            <a:pPr>
              <a:defRPr sz="1000">
                <a:solidFill>
                  <a:srgbClr val="5B6875"/>
                </a:solidFill>
              </a:defRPr>
            </a:pPr>
            <a:r>
              <a:t>Gap in packaging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743200"/>
          <a:ext cx="55778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1417320"/>
            <a:ext cx="4663440" cy="4206240"/>
          </a:xfrm>
          <a:prstGeom prst="roundRect">
            <a:avLst/>
          </a:prstGeom>
          <a:solidFill>
            <a:srgbClr val="EDF7FF"/>
          </a:solidFill>
          <a:ln>
            <a:solidFill>
              <a:srgbClr val="B7D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303F"/>
                </a:solidFill>
              </a:defRPr>
            </a:pPr>
            <a:r>
              <a:t>Signal: throughput improved six consecutive weeks.</a:t>
            </a:r>
          </a:p>
          <a:p>
            <a:pPr>
              <a:defRPr sz="1300">
                <a:solidFill>
                  <a:srgbClr val="22303F"/>
                </a:solidFill>
              </a:defRPr>
            </a:pPr>
            <a:r>
              <a:t>Implication: backlog is reducing without service quality erosion.</a:t>
            </a:r>
          </a:p>
          <a:p>
            <a:pPr>
              <a:defRPr sz="1300">
                <a:solidFill>
                  <a:srgbClr val="22303F"/>
                </a:solidFill>
              </a:defRPr>
            </a:pPr>
            <a:r>
              <a:t>Action: convert the analysis narrative into Markdown for the steering memo.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8"/>
                </a:solidFill>
              </a:defRPr>
            </a:pPr>
            <a:r>
              <a:t>Architecture and control points</a:t>
            </a:r>
          </a:p>
          <a:p>
            <a:pPr>
              <a:defRPr sz="1200">
                <a:solidFill>
                  <a:srgbClr val="5B6875"/>
                </a:solidFill>
              </a:defRPr>
            </a:pPr>
            <a:r>
              <a:t>Mixed layout with image, matrix table and milestone band</a:t>
            </a:r>
          </a:p>
        </p:txBody>
      </p:sp>
      <p:pic>
        <p:nvPicPr>
          <p:cNvPr id="3" name="Picture 2" descr="logistics_iso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937760" cy="38404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97880" y="1417320"/>
          <a:ext cx="5394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73B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73B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Control objective</a:t>
                      </a:r>
                    </a:p>
                  </a:txBody>
                  <a:tcPr>
                    <a:solidFill>
                      <a:srgbClr val="173B6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303F"/>
                          </a:solidFill>
                        </a:defRPr>
                      </a:pPr>
                      <a:r>
                        <a:t>Intake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303F"/>
                          </a:solidFill>
                        </a:defRPr>
                      </a:pPr>
                      <a:r>
                        <a:t>PMO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303F"/>
                          </a:solidFill>
                        </a:defRPr>
                      </a:pPr>
                      <a:r>
                        <a:t>Ensure source files are versioned and indexed.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303F"/>
                          </a:solidFill>
                        </a:defRPr>
                      </a:pPr>
                      <a:r>
                        <a:t>Conversion</a:t>
                      </a:r>
                    </a:p>
                  </a:txBody>
                  <a:tcPr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303F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303F"/>
                          </a:solidFill>
                        </a:defRPr>
                      </a:pPr>
                      <a:r>
                        <a:t>Preserve heading hierarchy, tables and captions.</a:t>
                      </a:r>
                    </a:p>
                  </a:txBody>
                  <a:tcPr>
                    <a:solidFill>
                      <a:srgbClr val="EDF4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303F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303F"/>
                          </a:solidFill>
                        </a:defRPr>
                      </a:pPr>
                      <a:r>
                        <a:t>Leadership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303F"/>
                          </a:solidFill>
                        </a:defRPr>
                      </a:pPr>
                      <a:r>
                        <a:t>Approve narrative and actions before distribution.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97880" y="3977639"/>
            <a:ext cx="5394960" cy="45720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Milestones | Scope freeze -&gt; Pilot -&gt; Governance rollout -&gt; KPI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8"/>
                </a:solidFill>
              </a:defRPr>
            </a:pPr>
            <a:r>
              <a:t>Risks and next steps</a:t>
            </a:r>
          </a:p>
          <a:p>
            <a:pPr>
              <a:defRPr sz="1200">
                <a:solidFill>
                  <a:srgbClr val="5B6875"/>
                </a:solidFill>
              </a:defRPr>
            </a:pPr>
            <a:r>
              <a:t>Intentional combination of bullets, action owners and closing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303F"/>
                </a:solidFill>
              </a:defRPr>
            </a:pPr>
            <a:r>
              <a:t>Risk 1: scanned appendices may require OCR fallback.</a:t>
            </a:r>
          </a:p>
          <a:p>
            <a:pPr>
              <a:defRPr sz="1400">
                <a:solidFill>
                  <a:srgbClr val="22303F"/>
                </a:solidFill>
              </a:defRPr>
            </a:pPr>
            <a:r>
              <a:t>Risk 2: legacy deck content could flatten semantic hierarchy.</a:t>
            </a:r>
          </a:p>
          <a:p>
            <a:pPr>
              <a:defRPr sz="1400">
                <a:solidFill>
                  <a:srgbClr val="22303F"/>
                </a:solidFill>
              </a:defRPr>
            </a:pPr>
            <a:r>
              <a:t>Risk 3: regional variants may duplicate the same narrative with minor edits.</a:t>
            </a:r>
          </a:p>
          <a:p>
            <a:pPr>
              <a:defRPr sz="1400">
                <a:solidFill>
                  <a:srgbClr val="22303F"/>
                </a:solidFill>
              </a:defRPr>
            </a:pPr>
            <a:r>
              <a:t>Action: standardise one source package and convert each artifact to Markdown automatically.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463040"/>
          <a:ext cx="4663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</a:tblGrid>
              <a:tr h="6629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73B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73B6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t>PMO lead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Finalize source inventory and naming rules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t>Automation lead</a:t>
                      </a:r>
                    </a:p>
                  </a:txBody>
                  <a:tcPr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Run Docling conversion and quality checks</a:t>
                      </a:r>
                    </a:p>
                  </a:txBody>
                  <a:tcPr>
                    <a:solidFill>
                      <a:srgbClr val="EDF4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t>Executive sponsor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Approve pilot scope and review cadence</a:t>
                      </a:r>
                    </a:p>
                  </a:txBody>
                  <a:tcPr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4572000"/>
            <a:ext cx="4663440" cy="960120"/>
          </a:xfrm>
          <a:prstGeom prst="roundRect">
            <a:avLst/>
          </a:prstGeom>
          <a:solidFill>
            <a:srgbClr val="EAF8F4"/>
          </a:solidFill>
          <a:ln>
            <a:solidFill>
              <a:srgbClr val="5C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73B68"/>
                </a:solidFill>
              </a:defRPr>
            </a:pPr>
            <a:r>
              <a:t>Desired test outcome: four distinct source formats -&gt; four clean Markdown outputs in one target directory.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